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E7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97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6903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3978C5"/>
                </a:solidFill>
                <a:latin typeface="Aptos"/>
              </a:defRPr>
            </a:pPr>
            <a:r>
              <a:t>OPERATING SYSTEMS  •  COLLEGE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81228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3100" b="1" i="0">
                <a:solidFill>
                  <a:srgbClr val="123B70"/>
                </a:solidFill>
                <a:latin typeface="Aptos"/>
              </a:defRPr>
            </a:pPr>
            <a:r>
              <a:t>DINING PHILOSOPHERS</a:t>
            </a:r>
          </a:p>
          <a:p>
            <a:pPr algn="l">
              <a:spcAft>
                <a:spcPts val="700"/>
              </a:spcAft>
              <a:defRPr sz="3100" b="1" i="0">
                <a:solidFill>
                  <a:srgbClr val="123B70"/>
                </a:solidFill>
                <a:latin typeface="Aptos"/>
              </a:defRPr>
            </a:pPr>
            <a:r>
              <a:t>DEADLOCK PREVENTION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337560"/>
            <a:ext cx="6217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800" b="0" i="0">
                <a:solidFill>
                  <a:srgbClr val="53657C"/>
                </a:solidFill>
                <a:latin typeface="Aptos"/>
              </a:defRPr>
            </a:pPr>
            <a:r>
              <a:t>A C-based synchronization project using POSIX threads, mutexes and semaphores.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572000"/>
            <a:ext cx="6217920" cy="18338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rPr dirty="0"/>
              <a:t>Team: </a:t>
            </a:r>
            <a:r>
              <a:rPr lang="en-US" dirty="0"/>
              <a:t>14</a:t>
            </a:r>
            <a:endParaRPr dirty="0"/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rPr dirty="0"/>
              <a:t>Members: </a:t>
            </a:r>
            <a:endParaRPr lang="en-US" dirty="0"/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rPr lang="en-IN" dirty="0"/>
              <a:t>Ram Agarwal – 2520090037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rPr lang="en-IN" dirty="0"/>
              <a:t>Ganesh Agarwal – 2520090052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rPr lang="en-IN" dirty="0"/>
              <a:t>Vivek Vinnakota - 2520090101</a:t>
            </a:r>
            <a:endParaRPr dirty="0"/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rPr dirty="0"/>
              <a:t>Faculty Guide: </a:t>
            </a:r>
            <a:r>
              <a:rPr dirty="0" err="1"/>
              <a:t>Dasari</a:t>
            </a:r>
            <a:r>
              <a:rPr dirty="0"/>
              <a:t> </a:t>
            </a:r>
            <a:r>
              <a:rPr dirty="0" err="1"/>
              <a:t>Alekhya</a:t>
            </a:r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8805672" y="1892808"/>
            <a:ext cx="2468880" cy="21579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97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71432" y="2670048"/>
            <a:ext cx="173736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700"/>
              </a:spcAft>
              <a:defRPr sz="1200" b="1" i="0">
                <a:solidFill>
                  <a:srgbClr val="123B70"/>
                </a:solidFill>
                <a:latin typeface="Aptos"/>
              </a:defRPr>
            </a:pPr>
            <a:r>
              <a:t>SHARED</a:t>
            </a:r>
          </a:p>
          <a:p>
            <a:pPr algn="ctr">
              <a:spcAft>
                <a:spcPts val="700"/>
              </a:spcAft>
              <a:defRPr sz="1200" b="1" i="0">
                <a:solidFill>
                  <a:srgbClr val="123B70"/>
                </a:solidFill>
                <a:latin typeface="Aptos"/>
              </a:defRPr>
            </a:pPr>
            <a:r>
              <a:t>RESOURCES</a:t>
            </a:r>
          </a:p>
        </p:txBody>
      </p:sp>
      <p:sp>
        <p:nvSpPr>
          <p:cNvPr id="10" name="Oval 9"/>
          <p:cNvSpPr/>
          <p:nvPr/>
        </p:nvSpPr>
        <p:spPr>
          <a:xfrm>
            <a:off x="9756648" y="1453895"/>
            <a:ext cx="566928" cy="566928"/>
          </a:xfrm>
          <a:prstGeom prst="ellipse">
            <a:avLst/>
          </a:prstGeom>
          <a:solidFill>
            <a:srgbClr val="3978C5"/>
          </a:solidFill>
          <a:ln>
            <a:solidFill>
              <a:srgbClr val="397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11" name="Oval 10"/>
          <p:cNvSpPr/>
          <p:nvPr/>
        </p:nvSpPr>
        <p:spPr>
          <a:xfrm>
            <a:off x="11104599" y="2306873"/>
            <a:ext cx="566928" cy="566928"/>
          </a:xfrm>
          <a:prstGeom prst="ellipse">
            <a:avLst/>
          </a:prstGeom>
          <a:solidFill>
            <a:srgbClr val="3978C5"/>
          </a:solidFill>
          <a:ln>
            <a:solidFill>
              <a:srgbClr val="397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12" name="Oval 11"/>
          <p:cNvSpPr/>
          <p:nvPr/>
        </p:nvSpPr>
        <p:spPr>
          <a:xfrm>
            <a:off x="10589727" y="3687018"/>
            <a:ext cx="566928" cy="566928"/>
          </a:xfrm>
          <a:prstGeom prst="ellipse">
            <a:avLst/>
          </a:prstGeom>
          <a:solidFill>
            <a:srgbClr val="3978C5"/>
          </a:solidFill>
          <a:ln>
            <a:solidFill>
              <a:srgbClr val="397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P3</a:t>
            </a:r>
          </a:p>
        </p:txBody>
      </p:sp>
      <p:sp>
        <p:nvSpPr>
          <p:cNvPr id="13" name="Oval 12"/>
          <p:cNvSpPr/>
          <p:nvPr/>
        </p:nvSpPr>
        <p:spPr>
          <a:xfrm>
            <a:off x="8923568" y="3687018"/>
            <a:ext cx="566928" cy="566928"/>
          </a:xfrm>
          <a:prstGeom prst="ellipse">
            <a:avLst/>
          </a:prstGeom>
          <a:solidFill>
            <a:srgbClr val="3978C5"/>
          </a:solidFill>
          <a:ln>
            <a:solidFill>
              <a:srgbClr val="397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P4</a:t>
            </a:r>
          </a:p>
        </p:txBody>
      </p:sp>
      <p:sp>
        <p:nvSpPr>
          <p:cNvPr id="14" name="Oval 13"/>
          <p:cNvSpPr/>
          <p:nvPr/>
        </p:nvSpPr>
        <p:spPr>
          <a:xfrm>
            <a:off x="8408696" y="2306873"/>
            <a:ext cx="566928" cy="566928"/>
          </a:xfrm>
          <a:prstGeom prst="ellipse">
            <a:avLst/>
          </a:prstGeom>
          <a:solidFill>
            <a:srgbClr val="3978C5"/>
          </a:solidFill>
          <a:ln>
            <a:solidFill>
              <a:srgbClr val="397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66249" y="2114399"/>
            <a:ext cx="201168" cy="457200"/>
          </a:xfrm>
          <a:prstGeom prst="round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791781" y="2983380"/>
            <a:ext cx="201168" cy="457200"/>
          </a:xfrm>
          <a:prstGeom prst="round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39528" y="3520439"/>
            <a:ext cx="201168" cy="457200"/>
          </a:xfrm>
          <a:prstGeom prst="round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87274" y="2983380"/>
            <a:ext cx="201168" cy="457200"/>
          </a:xfrm>
          <a:prstGeom prst="round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12806" y="2114399"/>
            <a:ext cx="201168" cy="457200"/>
          </a:xfrm>
          <a:prstGeom prst="round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5166360"/>
            <a:ext cx="34747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000" b="1" i="0">
                <a:solidFill>
                  <a:srgbClr val="3978C5"/>
                </a:solidFill>
                <a:latin typeface="Aptos"/>
              </a:defRPr>
            </a:pPr>
            <a:r>
              <a:t>5 THREADS  •  5 FORKS  •  SAFE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446520"/>
            <a:ext cx="6858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900" b="0" i="0">
                <a:solidFill>
                  <a:srgbClr val="53657C"/>
                </a:solidFill>
                <a:latin typeface="Aptos"/>
              </a:defRPr>
            </a:pPr>
            <a:r>
              <a:t>Prepared for academic demonstration — results pending implementation and testing.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0117A27-66A9-4CF8-9016-9C24EE348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2839" y="0"/>
            <a:ext cx="2269161" cy="10770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7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3B70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THE CLASSICAL SYNCHRONIZATION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9672"/>
            <a:ext cx="11045952" cy="10972"/>
          </a:xfrm>
          <a:prstGeom prst="rect">
            <a:avLst/>
          </a:prstGeom>
          <a:solidFill>
            <a:srgbClr val="CCD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800" b="1" i="0">
                <a:solidFill>
                  <a:srgbClr val="53657C"/>
                </a:solidFill>
                <a:latin typeface="Aptos"/>
              </a:defRPr>
            </a:pPr>
            <a:r>
              <a:t>DINING PHILOSOPHERS  |  OPERATING SYSTEMS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4864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2100" b="1" i="0">
                <a:solidFill>
                  <a:srgbClr val="123B70"/>
                </a:solidFill>
                <a:latin typeface="Aptos"/>
              </a:defRPr>
            </a:pPr>
            <a:r>
              <a:t>Five philosophers share five forks arranged in a circle.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303520" cy="29718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53447"/>
                </a:solidFill>
                <a:latin typeface="Aptos"/>
              </a:defRPr>
            </a:pPr>
            <a:r>
              <a:t>•  Each philosopher alternates between thinking and eating.</a:t>
            </a:r>
          </a:p>
          <a:p>
            <a:pPr>
              <a:spcAft>
                <a:spcPts val="1300"/>
              </a:spcAft>
              <a:defRPr sz="1700">
                <a:solidFill>
                  <a:srgbClr val="253447"/>
                </a:solidFill>
                <a:latin typeface="Aptos"/>
              </a:defRPr>
            </a:pPr>
            <a:r>
              <a:t>•  Eating requires both adjacent forks.</a:t>
            </a:r>
          </a:p>
          <a:p>
            <a:pPr>
              <a:spcAft>
                <a:spcPts val="1300"/>
              </a:spcAft>
              <a:defRPr sz="1700">
                <a:solidFill>
                  <a:srgbClr val="253447"/>
                </a:solidFill>
                <a:latin typeface="Aptos"/>
              </a:defRPr>
            </a:pPr>
            <a:r>
              <a:t>•  Forks are shared resources and cannot be used by two neighbours at once.</a:t>
            </a:r>
          </a:p>
          <a:p>
            <a:pPr>
              <a:spcAft>
                <a:spcPts val="1300"/>
              </a:spcAft>
              <a:defRPr sz="1700">
                <a:solidFill>
                  <a:srgbClr val="253447"/>
                </a:solidFill>
                <a:latin typeface="Aptos"/>
              </a:defRPr>
            </a:pPr>
            <a:r>
              <a:t>•  Poor coordination can cause deadlock or starvation.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589520" y="2258568"/>
            <a:ext cx="2651760" cy="2157984"/>
          </a:xfrm>
          <a:prstGeom prst="ellipse">
            <a:avLst/>
          </a:prstGeom>
          <a:solidFill>
            <a:srgbClr val="F5F9FF"/>
          </a:solidFill>
          <a:ln w="25400">
            <a:solidFill>
              <a:srgbClr val="397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2168" y="3044952"/>
            <a:ext cx="142646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700"/>
              </a:spcAft>
              <a:defRPr sz="1200" b="1" i="0">
                <a:solidFill>
                  <a:srgbClr val="123B70"/>
                </a:solidFill>
                <a:latin typeface="Aptos"/>
              </a:defRPr>
            </a:pPr>
            <a:r>
              <a:t>SHARED</a:t>
            </a:r>
          </a:p>
          <a:p>
            <a:pPr algn="ctr">
              <a:spcAft>
                <a:spcPts val="700"/>
              </a:spcAft>
              <a:defRPr sz="1200" b="1" i="0">
                <a:solidFill>
                  <a:srgbClr val="123B70"/>
                </a:solidFill>
                <a:latin typeface="Aptos"/>
              </a:defRPr>
            </a:pPr>
            <a:r>
              <a:t>TABLE</a:t>
            </a:r>
          </a:p>
        </p:txBody>
      </p:sp>
      <p:sp>
        <p:nvSpPr>
          <p:cNvPr id="12" name="Oval 11"/>
          <p:cNvSpPr/>
          <p:nvPr/>
        </p:nvSpPr>
        <p:spPr>
          <a:xfrm>
            <a:off x="8586216" y="1618488"/>
            <a:ext cx="658368" cy="658368"/>
          </a:xfrm>
          <a:prstGeom prst="ellipse">
            <a:avLst/>
          </a:prstGeom>
          <a:solidFill>
            <a:srgbClr val="3978C5"/>
          </a:solidFill>
          <a:ln>
            <a:solidFill>
              <a:srgbClr val="397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P1</a:t>
            </a:r>
          </a:p>
        </p:txBody>
      </p:sp>
      <p:sp>
        <p:nvSpPr>
          <p:cNvPr id="13" name="Oval 12"/>
          <p:cNvSpPr/>
          <p:nvPr/>
        </p:nvSpPr>
        <p:spPr>
          <a:xfrm>
            <a:off x="10238543" y="2578876"/>
            <a:ext cx="658368" cy="658368"/>
          </a:xfrm>
          <a:prstGeom prst="ellipse">
            <a:avLst/>
          </a:prstGeom>
          <a:solidFill>
            <a:srgbClr val="3978C5"/>
          </a:solidFill>
          <a:ln>
            <a:solidFill>
              <a:srgbClr val="397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9607410" y="4132819"/>
            <a:ext cx="658368" cy="658368"/>
          </a:xfrm>
          <a:prstGeom prst="ellipse">
            <a:avLst/>
          </a:prstGeom>
          <a:solidFill>
            <a:srgbClr val="3978C5"/>
          </a:solidFill>
          <a:ln>
            <a:solidFill>
              <a:srgbClr val="397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P3</a:t>
            </a:r>
          </a:p>
        </p:txBody>
      </p:sp>
      <p:sp>
        <p:nvSpPr>
          <p:cNvPr id="15" name="Oval 14"/>
          <p:cNvSpPr/>
          <p:nvPr/>
        </p:nvSpPr>
        <p:spPr>
          <a:xfrm>
            <a:off x="7565021" y="4132819"/>
            <a:ext cx="658368" cy="658368"/>
          </a:xfrm>
          <a:prstGeom prst="ellipse">
            <a:avLst/>
          </a:prstGeom>
          <a:solidFill>
            <a:srgbClr val="3978C5"/>
          </a:solidFill>
          <a:ln>
            <a:solidFill>
              <a:srgbClr val="397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P4</a:t>
            </a:r>
          </a:p>
        </p:txBody>
      </p:sp>
      <p:sp>
        <p:nvSpPr>
          <p:cNvPr id="16" name="Oval 15"/>
          <p:cNvSpPr/>
          <p:nvPr/>
        </p:nvSpPr>
        <p:spPr>
          <a:xfrm>
            <a:off x="6933888" y="2578876"/>
            <a:ext cx="658368" cy="658368"/>
          </a:xfrm>
          <a:prstGeom prst="ellipse">
            <a:avLst/>
          </a:prstGeom>
          <a:solidFill>
            <a:srgbClr val="3978C5"/>
          </a:solidFill>
          <a:ln>
            <a:solidFill>
              <a:srgbClr val="397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9674" y="2431868"/>
            <a:ext cx="182880" cy="420624"/>
          </a:xfrm>
          <a:prstGeom prst="round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84928" y="3392859"/>
            <a:ext cx="182880" cy="420624"/>
          </a:xfrm>
          <a:prstGeom prst="round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23960" y="3986783"/>
            <a:ext cx="182880" cy="420624"/>
          </a:xfrm>
          <a:prstGeom prst="round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62991" y="3392859"/>
            <a:ext cx="182880" cy="420624"/>
          </a:xfrm>
          <a:prstGeom prst="round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68245" y="2431868"/>
            <a:ext cx="182880" cy="420624"/>
          </a:xfrm>
          <a:prstGeom prst="roundRect">
            <a:avLst/>
          </a:prstGeom>
          <a:solidFill>
            <a:srgbClr val="123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562356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53657C"/>
                </a:solidFill>
                <a:latin typeface="Aptos"/>
              </a:defRPr>
            </a:pPr>
            <a:r>
              <a:t>P = philosopher thread     Fork = shared resource</a:t>
            </a:r>
          </a:p>
        </p:txBody>
      </p:sp>
      <p:pic>
        <p:nvPicPr>
          <p:cNvPr id="1028" name="Picture 4" descr="KLH Aziznagar Campus | Leading Engineering College in Hyderabad">
            <a:extLst>
              <a:ext uri="{FF2B5EF4-FFF2-40B4-BE49-F238E27FC236}">
                <a16:creationId xmlns:a16="http://schemas.microsoft.com/office/drawing/2014/main" id="{6BDBE830-DA3A-48E2-BC31-BD56E6DCB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4980" y="126188"/>
            <a:ext cx="2423862" cy="1150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7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3B70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WHAT THE SYSTEM IS DESIGNED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9672"/>
            <a:ext cx="11045952" cy="10972"/>
          </a:xfrm>
          <a:prstGeom prst="rect">
            <a:avLst/>
          </a:prstGeom>
          <a:solidFill>
            <a:srgbClr val="CCD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800" b="1" i="0">
                <a:solidFill>
                  <a:srgbClr val="53657C"/>
                </a:solidFill>
                <a:latin typeface="Aptos"/>
              </a:defRPr>
            </a:pPr>
            <a:r>
              <a:t>DINING PHILOSOPHERS  |  OPERATING SYSTEMS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29000" cy="169164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545336"/>
            <a:ext cx="309981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Prevent deadlock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38528"/>
            <a:ext cx="3099816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Coordinate fork acquisition so circular waiting cannot occur.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417320"/>
            <a:ext cx="3429000" cy="1691640"/>
          </a:xfrm>
          <a:prstGeom prst="roundRect">
            <a:avLst/>
          </a:prstGeom>
          <a:solidFill>
            <a:srgbClr val="F5F9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3" y="1545336"/>
            <a:ext cx="309981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Reduce starvation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3" y="1938528"/>
            <a:ext cx="3099816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Use fair access policies so waiting philosophers get opportunities.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0183" y="1417320"/>
            <a:ext cx="3429000" cy="169164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94776" y="1545336"/>
            <a:ext cx="309981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Ensure mutual exclusion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4776" y="1938528"/>
            <a:ext cx="3099816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Protect each fork from simultaneous use by neighbouring threads.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429000" cy="1691640"/>
          </a:xfrm>
          <a:prstGeom prst="roundRect">
            <a:avLst/>
          </a:prstGeom>
          <a:solidFill>
            <a:srgbClr val="F5F9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694176"/>
            <a:ext cx="309981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Demonstrate concurrency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087368"/>
            <a:ext cx="3099816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Run five philosopher threads using POSIX pthreads.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07992" y="3566160"/>
            <a:ext cx="3429000" cy="169164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72583" y="3694176"/>
            <a:ext cx="309981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Validate behavior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3" y="4087368"/>
            <a:ext cx="3099816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Test resource safety, progress, and correct release.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0183" y="3566160"/>
            <a:ext cx="3429000" cy="1691640"/>
          </a:xfrm>
          <a:prstGeom prst="roundRect">
            <a:avLst/>
          </a:prstGeom>
          <a:solidFill>
            <a:srgbClr val="F5F9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94776" y="3694176"/>
            <a:ext cx="309981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Monitor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4776" y="4087368"/>
            <a:ext cx="3099816" cy="10698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Log state changes such as THINKING, WAITING and EATING.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2D0FE8B-4BCE-4C49-A2F6-43574892F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363" y="186310"/>
            <a:ext cx="2433637" cy="1155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7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3B70"/>
                </a:solidFill>
                <a:latin typeface="Aptos"/>
              </a:defRPr>
            </a:pPr>
            <a:r>
              <a:t>Existing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WHY NAIVE RESOURCE SHARING CAN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9672"/>
            <a:ext cx="11045952" cy="10972"/>
          </a:xfrm>
          <a:prstGeom prst="rect">
            <a:avLst/>
          </a:prstGeom>
          <a:solidFill>
            <a:srgbClr val="CCD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800" b="1" i="0">
                <a:solidFill>
                  <a:srgbClr val="53657C"/>
                </a:solidFill>
                <a:latin typeface="Aptos"/>
              </a:defRPr>
            </a:pPr>
            <a:r>
              <a:t>DINING PHILOSOPHERS  |  OPERATING SYSTEMS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520440" cy="1874519"/>
          </a:xfrm>
          <a:prstGeom prst="roundRect">
            <a:avLst/>
          </a:prstGeom>
          <a:solidFill>
            <a:srgbClr val="FFEBEB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545336"/>
            <a:ext cx="319125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B13737"/>
                </a:solidFill>
                <a:latin typeface="Aptos"/>
              </a:defRPr>
            </a:pPr>
            <a:r>
              <a:t>Deadlock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38528"/>
            <a:ext cx="3191256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253447"/>
                </a:solidFill>
                <a:latin typeface="Aptos"/>
              </a:defRPr>
            </a:pPr>
            <a:r>
              <a:t>Every philosopher holds one fork and waits for the other. No one can proceed.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520440" cy="1874519"/>
          </a:xfrm>
          <a:prstGeom prst="roundRect">
            <a:avLst/>
          </a:prstGeom>
          <a:solidFill>
            <a:srgbClr val="FFF3DC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545336"/>
            <a:ext cx="319125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9B5E10"/>
                </a:solidFill>
                <a:latin typeface="Aptos"/>
              </a:defRPr>
            </a:pPr>
            <a:r>
              <a:t>Starvation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38528"/>
            <a:ext cx="3191256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253447"/>
                </a:solidFill>
                <a:latin typeface="Aptos"/>
              </a:defRPr>
            </a:pPr>
            <a:r>
              <a:t>A philosopher may keep waiting while other philosophers repeatedly get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520440" cy="1874519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1545336"/>
            <a:ext cx="319125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Race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1938528"/>
            <a:ext cx="3191256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253447"/>
                </a:solidFill>
                <a:latin typeface="Aptos"/>
              </a:defRPr>
            </a:pPr>
            <a:r>
              <a:t>Unsynchronized access to shared state can produce inconsistent 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10424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2100" b="1" i="0">
                <a:solidFill>
                  <a:srgbClr val="123B70"/>
                </a:solidFill>
                <a:latin typeface="Aptos"/>
              </a:defRPr>
            </a:pPr>
            <a:r>
              <a:t>Deadlock vs. starvation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48920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253447"/>
                </a:solidFill>
                <a:latin typeface="Aptos"/>
              </a:defRPr>
            </a:pPr>
            <a:r>
              <a:t>DEADLOCK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253447"/>
                </a:solidFill>
                <a:latin typeface="Aptos"/>
              </a:defRPr>
            </a:pPr>
            <a:r>
              <a:t>A group of threads is stuck waiting on resources held by one another.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434840"/>
            <a:ext cx="489204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 i="0">
                <a:solidFill>
                  <a:srgbClr val="253447"/>
                </a:solidFill>
                <a:latin typeface="Aptos"/>
              </a:defRPr>
            </a:pPr>
            <a:r>
              <a:t>STARVATION</a:t>
            </a:r>
          </a:p>
          <a:p>
            <a:pPr algn="l">
              <a:spcAft>
                <a:spcPts val="700"/>
              </a:spcAft>
              <a:defRPr sz="1600" b="0" i="0">
                <a:solidFill>
                  <a:srgbClr val="253447"/>
                </a:solidFill>
                <a:latin typeface="Aptos"/>
              </a:defRPr>
            </a:pPr>
            <a:r>
              <a:t>One thread waits indefinitely while other threads may continue.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0644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3978C5"/>
                </a:solidFill>
                <a:latin typeface="Aptos"/>
              </a:defRPr>
            </a:pPr>
            <a:r>
              <a:t>Both are liveness problems, but they require different checks and solutions.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D57BCD5-CB04-41BE-82F3-2F4F866A6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363" y="143447"/>
            <a:ext cx="2433332" cy="1154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7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3B70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CONTROLLED AND OBSERVABLE RESOURCE ALLOCATION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9672"/>
            <a:ext cx="11045952" cy="10972"/>
          </a:xfrm>
          <a:prstGeom prst="rect">
            <a:avLst/>
          </a:prstGeom>
          <a:solidFill>
            <a:srgbClr val="CCD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800" b="1" i="0">
                <a:solidFill>
                  <a:srgbClr val="53657C"/>
                </a:solidFill>
                <a:latin typeface="Aptos"/>
              </a:defRPr>
            </a:pPr>
            <a:r>
              <a:t>DINING PHILOSOPHERS  |  OPERATING SYSTEMS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98448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123B70"/>
                </a:solidFill>
                <a:latin typeface="Aptos"/>
              </a:defRPr>
            </a:pPr>
            <a:r>
              <a:t>The system coordinates fork requests through a synchronization controller.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2057400" cy="91440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359152"/>
            <a:ext cx="1837943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500" b="1" i="0">
                <a:solidFill>
                  <a:srgbClr val="123B70"/>
                </a:solidFill>
                <a:latin typeface="Aptos"/>
              </a:defRPr>
            </a:pPr>
            <a:r>
              <a:t>Main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79192"/>
            <a:ext cx="183794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253447"/>
                </a:solidFill>
                <a:latin typeface="Aptos"/>
              </a:defRPr>
            </a:pPr>
            <a:r>
              <a:t>Initialize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240280"/>
            <a:ext cx="2057400" cy="91440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2359152"/>
            <a:ext cx="1837943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500" b="1" i="0">
                <a:solidFill>
                  <a:srgbClr val="123B70"/>
                </a:solidFill>
                <a:latin typeface="Aptos"/>
              </a:defRPr>
            </a:pPr>
            <a:r>
              <a:t>5 Threads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679192"/>
            <a:ext cx="1837943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253447"/>
                </a:solidFill>
                <a:latin typeface="Aptos"/>
              </a:defRPr>
            </a:pPr>
            <a:r>
              <a:t>Think /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240280"/>
            <a:ext cx="2240280" cy="91440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24728" y="2359152"/>
            <a:ext cx="202082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500" b="1" i="0">
                <a:solidFill>
                  <a:srgbClr val="123B70"/>
                </a:solidFill>
                <a:latin typeface="Aptos"/>
              </a:defRPr>
            </a:pPr>
            <a:r>
              <a:t>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2679192"/>
            <a:ext cx="20208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253447"/>
                </a:solidFill>
                <a:latin typeface="Aptos"/>
              </a:defRPr>
            </a:pPr>
            <a:r>
              <a:t>Apply strategy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2240280"/>
            <a:ext cx="2651760" cy="91440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6488" y="2359152"/>
            <a:ext cx="24323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500" b="1" i="0">
                <a:solidFill>
                  <a:srgbClr val="123B70"/>
                </a:solidFill>
                <a:latin typeface="Aptos"/>
              </a:defRPr>
            </a:pPr>
            <a:r>
              <a:t>Fork 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2679192"/>
            <a:ext cx="24323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253447"/>
                </a:solidFill>
                <a:latin typeface="Aptos"/>
              </a:defRPr>
            </a:pPr>
            <a:r>
              <a:t>Acquire / release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34640" y="2697480"/>
            <a:ext cx="411480" cy="0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03520" y="2697480"/>
            <a:ext cx="411480" cy="0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55279" y="2697480"/>
            <a:ext cx="411481" cy="0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92640" y="3200400"/>
            <a:ext cx="0" cy="777239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920240" y="3977639"/>
            <a:ext cx="3383280" cy="1234440"/>
          </a:xfrm>
          <a:prstGeom prst="roundRect">
            <a:avLst/>
          </a:prstGeom>
          <a:solidFill>
            <a:srgbClr val="F5F9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84832" y="4105655"/>
            <a:ext cx="305409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2" y="4498848"/>
            <a:ext cx="3054096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Log thread states and resource events.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3977639"/>
            <a:ext cx="3931920" cy="1234440"/>
          </a:xfrm>
          <a:prstGeom prst="roundRect">
            <a:avLst/>
          </a:prstGeom>
          <a:solidFill>
            <a:srgbClr val="E1F5E8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79592" y="4105655"/>
            <a:ext cx="360273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F824C"/>
                </a:solidFill>
                <a:latin typeface="Aptos"/>
              </a:defRPr>
            </a:pPr>
            <a:r>
              <a:t>Expected behavior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9592" y="4498848"/>
            <a:ext cx="3602736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No deadlock with a correctly implemented prevention strategy.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669280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3978C5"/>
                </a:solidFill>
                <a:latin typeface="Aptos"/>
              </a:defRPr>
            </a:pPr>
            <a:r>
              <a:t>Primary strategy to implement: resource ordering (recommended for a clear demonstration).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2DD38FD-98DE-41BC-AE7B-019101A9D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00025"/>
            <a:ext cx="2545080" cy="1207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7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3B70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LAYERED VIEW OF THE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9672"/>
            <a:ext cx="11045952" cy="10972"/>
          </a:xfrm>
          <a:prstGeom prst="rect">
            <a:avLst/>
          </a:prstGeom>
          <a:solidFill>
            <a:srgbClr val="CCD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800" b="1" i="0">
                <a:solidFill>
                  <a:srgbClr val="53657C"/>
                </a:solidFill>
                <a:latin typeface="Aptos"/>
              </a:defRPr>
            </a:pPr>
            <a:r>
              <a:t>DINING PHILOSOPHERS  |  OPERATING SYSTEMS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298448"/>
            <a:ext cx="8366760" cy="68580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48840" y="1389888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123B70"/>
                </a:solidFill>
                <a:latin typeface="Aptos"/>
              </a:defRPr>
            </a:pPr>
            <a:r>
              <a:t>1  User / Main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389888"/>
            <a:ext cx="4892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253447"/>
                </a:solidFill>
                <a:latin typeface="Aptos"/>
              </a:defRPr>
            </a:pPr>
            <a:r>
              <a:t>Starts the simulation and initializes shared objects.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9048" y="1993391"/>
            <a:ext cx="0" cy="192024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20240" y="2286000"/>
            <a:ext cx="8366760" cy="685800"/>
          </a:xfrm>
          <a:prstGeom prst="roundRect">
            <a:avLst/>
          </a:prstGeom>
          <a:solidFill>
            <a:srgbClr val="F5F9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48840" y="2377440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123B70"/>
                </a:solidFill>
                <a:latin typeface="Aptos"/>
              </a:defRPr>
            </a:pPr>
            <a:r>
              <a:t>2  Philosopher Threads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377440"/>
            <a:ext cx="4892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253447"/>
                </a:solidFill>
                <a:latin typeface="Aptos"/>
              </a:defRPr>
            </a:pPr>
            <a:r>
              <a:t>Five concurrent pthreads run thinking/eating cycles.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8" y="2980944"/>
            <a:ext cx="0" cy="192024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20240" y="3273552"/>
            <a:ext cx="8366760" cy="68580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48840" y="3364992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123B70"/>
                </a:solidFill>
                <a:latin typeface="Aptos"/>
              </a:defRPr>
            </a:pPr>
            <a:r>
              <a:t>3  Synchronization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364992"/>
            <a:ext cx="4892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253447"/>
                </a:solidFill>
                <a:latin typeface="Aptos"/>
              </a:defRPr>
            </a:pPr>
            <a:r>
              <a:t>Applies resource ordering, semaphore admission, or fair queue policy.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9048" y="3968496"/>
            <a:ext cx="0" cy="192024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920240" y="4261104"/>
            <a:ext cx="8366760" cy="685800"/>
          </a:xfrm>
          <a:prstGeom prst="roundRect">
            <a:avLst/>
          </a:prstGeom>
          <a:solidFill>
            <a:srgbClr val="F5F9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48840" y="4352544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123B70"/>
                </a:solidFill>
                <a:latin typeface="Aptos"/>
              </a:defRPr>
            </a:pPr>
            <a:r>
              <a:t>4  Shared Forks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4352544"/>
            <a:ext cx="4892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253447"/>
                </a:solidFill>
                <a:latin typeface="Aptos"/>
              </a:defRPr>
            </a:pPr>
            <a:r>
              <a:t>Five mutex-protected resources, one per fork.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9048" y="4956048"/>
            <a:ext cx="0" cy="192024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920240" y="5248656"/>
            <a:ext cx="8366760" cy="68580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48840" y="5340096"/>
            <a:ext cx="2971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123B70"/>
                </a:solidFill>
                <a:latin typeface="Aptos"/>
              </a:defRPr>
            </a:pPr>
            <a:r>
              <a:t>5  Monitoring &amp; Logs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5340096"/>
            <a:ext cx="4892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253447"/>
                </a:solidFill>
                <a:latin typeface="Aptos"/>
              </a:defRPr>
            </a:pPr>
            <a:r>
              <a:t>Records state transitions, waiting, acquisition and release.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6355080"/>
            <a:ext cx="81381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900" b="0" i="0">
                <a:solidFill>
                  <a:srgbClr val="53657C"/>
                </a:solidFill>
                <a:latin typeface="Aptos"/>
              </a:defRPr>
            </a:pPr>
            <a:r>
              <a:t>Architecture is conceptual; final components should match the code actually implemented.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D1CA71E-D94A-40FC-A8F6-EF85DA155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73165"/>
            <a:ext cx="2224735" cy="10559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7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3B70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IMPLEMENTATION ENVIRONMENT AND CONCURRENCY PRIMITIVES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9672"/>
            <a:ext cx="11045952" cy="10972"/>
          </a:xfrm>
          <a:prstGeom prst="rect">
            <a:avLst/>
          </a:prstGeom>
          <a:solidFill>
            <a:srgbClr val="CCD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800" b="1" i="0">
                <a:solidFill>
                  <a:srgbClr val="53657C"/>
                </a:solidFill>
                <a:latin typeface="Aptos"/>
              </a:defRPr>
            </a:pPr>
            <a:r>
              <a:t>DINING PHILOSOPHERS  |  OPERATING SYSTEMS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98448"/>
            <a:ext cx="5074920" cy="896112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426464"/>
            <a:ext cx="474573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Ubuntu Linux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819655"/>
            <a:ext cx="4745736" cy="2743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253447"/>
                </a:solidFill>
                <a:latin typeface="Aptos"/>
              </a:defRPr>
            </a:pPr>
            <a:r>
              <a:t>Development and runtime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41448"/>
            <a:ext cx="5074920" cy="896112"/>
          </a:xfrm>
          <a:prstGeom prst="roundRect">
            <a:avLst/>
          </a:prstGeom>
          <a:solidFill>
            <a:srgbClr val="F5F9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2569464"/>
            <a:ext cx="474573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962656"/>
            <a:ext cx="4745736" cy="2743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253447"/>
                </a:solidFill>
                <a:latin typeface="Aptos"/>
              </a:defRPr>
            </a:pPr>
            <a:r>
              <a:t>Implements thread routines and resource logic.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84448"/>
            <a:ext cx="5074920" cy="896112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712463"/>
            <a:ext cx="474573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GCC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105656"/>
            <a:ext cx="4745736" cy="2743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253447"/>
                </a:solidFill>
                <a:latin typeface="Aptos"/>
              </a:defRPr>
            </a:pPr>
            <a:r>
              <a:t>Compiles the source 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727448"/>
            <a:ext cx="5074920" cy="896112"/>
          </a:xfrm>
          <a:prstGeom prst="roundRect">
            <a:avLst/>
          </a:prstGeom>
          <a:solidFill>
            <a:srgbClr val="F5F9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4855464"/>
            <a:ext cx="474573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POSIX pthreads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5248656"/>
            <a:ext cx="4745736" cy="2743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253447"/>
                </a:solidFill>
                <a:latin typeface="Aptos"/>
              </a:defRPr>
            </a:pPr>
            <a:r>
              <a:t>Creates and joins philosopher threads.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298448"/>
            <a:ext cx="5074920" cy="896112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1" y="1426464"/>
            <a:ext cx="474573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Mutexes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1819655"/>
            <a:ext cx="4745736" cy="2743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253447"/>
                </a:solidFill>
                <a:latin typeface="Aptos"/>
              </a:defRPr>
            </a:pPr>
            <a:r>
              <a:t>Provide mutual exclusion for fork resources or shared state.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441448"/>
            <a:ext cx="5074920" cy="896112"/>
          </a:xfrm>
          <a:prstGeom prst="roundRect">
            <a:avLst/>
          </a:prstGeom>
          <a:solidFill>
            <a:srgbClr val="F5F9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1" y="2569464"/>
            <a:ext cx="474573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Semaphores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2962656"/>
            <a:ext cx="4745736" cy="2743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253447"/>
                </a:solidFill>
                <a:latin typeface="Aptos"/>
              </a:defRPr>
            </a:pPr>
            <a:r>
              <a:t>Control the number of threads allowed to enter a section.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584448"/>
            <a:ext cx="5074920" cy="896112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1" y="3712463"/>
            <a:ext cx="474573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Terminal logs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1" y="4105656"/>
            <a:ext cx="4745736" cy="2743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253447"/>
                </a:solidFill>
                <a:latin typeface="Aptos"/>
              </a:defRPr>
            </a:pPr>
            <a:r>
              <a:t>Display thread states and synchronization events.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892040"/>
            <a:ext cx="46634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123B70"/>
                </a:solidFill>
                <a:latin typeface="Aptos"/>
              </a:defRPr>
            </a:pPr>
            <a:r>
              <a:t>Example compile command</a:t>
            </a:r>
          </a:p>
          <a:p>
            <a:pPr algn="l">
              <a:spcAft>
                <a:spcPts val="700"/>
              </a:spcAft>
              <a:defRPr sz="1400" b="1" i="0">
                <a:solidFill>
                  <a:srgbClr val="123B70"/>
                </a:solidFill>
                <a:latin typeface="Aptos"/>
              </a:defRPr>
            </a:pPr>
            <a:r>
              <a:t> gcc dining.c -o dining -pthread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715000"/>
            <a:ext cx="4663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3978C5"/>
                </a:solidFill>
                <a:latin typeface="Aptos"/>
              </a:defRPr>
            </a:pPr>
            <a:r>
              <a:t>Run: ./dining</a:t>
            </a:r>
          </a:p>
        </p:txBody>
      </p:sp>
      <p:pic>
        <p:nvPicPr>
          <p:cNvPr id="2050" name="Picture 2" descr="KLH Aziznagar Campus | Leading Engineering College in Hyderabad">
            <a:extLst>
              <a:ext uri="{FF2B5EF4-FFF2-40B4-BE49-F238E27FC236}">
                <a16:creationId xmlns:a16="http://schemas.microsoft.com/office/drawing/2014/main" id="{A795C7E3-419A-412E-A7DE-2F92E4AED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6963" y="171449"/>
            <a:ext cx="2167584" cy="102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7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3B70"/>
                </a:solidFill>
                <a:latin typeface="Aptos"/>
              </a:defRPr>
            </a:pPr>
            <a:r>
              <a:t>Synchronization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COMPARE PREVENTION AND FAIRNESS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9672"/>
            <a:ext cx="11045952" cy="10972"/>
          </a:xfrm>
          <a:prstGeom prst="rect">
            <a:avLst/>
          </a:prstGeom>
          <a:solidFill>
            <a:srgbClr val="CCD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800" b="1" i="0">
                <a:solidFill>
                  <a:srgbClr val="53657C"/>
                </a:solidFill>
                <a:latin typeface="Aptos"/>
              </a:defRPr>
            </a:pPr>
            <a:r>
              <a:t>DINING PHILOSOPHERS  |  OPERATING SYSTEMS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53312"/>
            <a:ext cx="3520440" cy="333756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481328"/>
            <a:ext cx="319125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1. Resource Ordering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74519"/>
            <a:ext cx="3191256" cy="2715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• Assign each fork a unique number.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• Always acquire the lower-numbered fork first.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• Removes circular wait and prevents deadlock.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53312"/>
            <a:ext cx="3520440" cy="3337560"/>
          </a:xfrm>
          <a:prstGeom prst="roundRect">
            <a:avLst/>
          </a:prstGeom>
          <a:solidFill>
            <a:srgbClr val="F5F9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481328"/>
            <a:ext cx="319125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2. N−1 Semaphore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874519"/>
            <a:ext cx="3191256" cy="2715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• Allow at most four philosophers to attempt acquisition at once.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• Avoids the all-five-hold-one-fork scenario.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• Requires correct resource release.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53312"/>
            <a:ext cx="3520440" cy="333756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1481328"/>
            <a:ext cx="319125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3. Fair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1874519"/>
            <a:ext cx="3191256" cy="2715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• Queue requests for fork pairs.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• Grant access according to queue policy.</a:t>
            </a:r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400" b="0" i="0">
                <a:solidFill>
                  <a:srgbClr val="253447"/>
                </a:solidFill>
                <a:latin typeface="Aptos"/>
              </a:defRPr>
            </a:pPr>
            <a:r>
              <a:t>• Can reduce starvation with bounded waiting and correct scheduling.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105156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3978C5"/>
                </a:solidFill>
                <a:latin typeface="Aptos"/>
              </a:defRPr>
            </a:pPr>
            <a:r>
              <a:t>Recommended baseline: resource ordering. Treat the other methods as comparisons unless they are also implemented and tested.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9CBCBEC-2F5B-48FD-98CF-79537FCEC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0899" y="145161"/>
            <a:ext cx="2510796" cy="11916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7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3B70"/>
                </a:solidFill>
                <a:latin typeface="Aptos"/>
              </a:defRPr>
            </a:pPr>
            <a:r>
              <a:t>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C ON UBUNTU LINUX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9672"/>
            <a:ext cx="11045952" cy="10972"/>
          </a:xfrm>
          <a:prstGeom prst="rect">
            <a:avLst/>
          </a:prstGeom>
          <a:solidFill>
            <a:srgbClr val="CCD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800" b="1" i="0">
                <a:solidFill>
                  <a:srgbClr val="53657C"/>
                </a:solidFill>
                <a:latin typeface="Aptos"/>
              </a:defRPr>
            </a:pPr>
            <a:r>
              <a:t>DINING PHILOSOPHERS  |  OPERATING SYSTEMS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4983480" cy="1170432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453895"/>
            <a:ext cx="465429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1. Initialize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847088"/>
            <a:ext cx="46542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Create fork mutexes and any required semaphore/queue.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4983480" cy="1170432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453895"/>
            <a:ext cx="465429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2. Create threads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1847088"/>
            <a:ext cx="46542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Launch five philosopher routines using pthread_create().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07208"/>
            <a:ext cx="4983480" cy="1170432"/>
          </a:xfrm>
          <a:prstGeom prst="roundRect">
            <a:avLst/>
          </a:prstGeom>
          <a:solidFill>
            <a:srgbClr val="F5F9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2935224"/>
            <a:ext cx="465429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3. Request forks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328416"/>
            <a:ext cx="46542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Use the selected strategy before acquiring resources.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07208"/>
            <a:ext cx="4983480" cy="1170432"/>
          </a:xfrm>
          <a:prstGeom prst="roundRect">
            <a:avLst/>
          </a:prstGeom>
          <a:solidFill>
            <a:srgbClr val="F5F9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1" y="2935224"/>
            <a:ext cx="465429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4. Eat safely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3328416"/>
            <a:ext cx="46542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Enter EATING only after both required forks are acquired.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288536"/>
            <a:ext cx="4983480" cy="1170432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4416552"/>
            <a:ext cx="465429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5. Release resources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4809744"/>
            <a:ext cx="46542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Unlock/release both forks after eating.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288536"/>
            <a:ext cx="4983480" cy="1170432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1" y="4416552"/>
            <a:ext cx="465429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6. Finish cleanly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4809744"/>
            <a:ext cx="46542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Join threads and destroy synchronization objects.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9788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100" b="1" i="0">
                <a:solidFill>
                  <a:srgbClr val="3978C5"/>
                </a:solidFill>
                <a:latin typeface="Aptos"/>
              </a:defRPr>
            </a:pPr>
            <a:r>
              <a:t>Useful APIs: pthread_create • pthread_join • pthread_mutex_lock/unlock • sem_wait • sem_post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5E2F05F-2831-479F-B58C-41694D262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513" y="173736"/>
            <a:ext cx="2376487" cy="11279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7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3B70"/>
                </a:solidFill>
                <a:latin typeface="Aptos"/>
              </a:defRPr>
            </a:pPr>
            <a:r>
              <a:t>Synchronization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RESOURCE-ORDERING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9672"/>
            <a:ext cx="11045952" cy="10972"/>
          </a:xfrm>
          <a:prstGeom prst="rect">
            <a:avLst/>
          </a:prstGeom>
          <a:solidFill>
            <a:srgbClr val="CCD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800" b="1" i="0">
                <a:solidFill>
                  <a:srgbClr val="53657C"/>
                </a:solidFill>
                <a:latin typeface="Aptos"/>
              </a:defRPr>
            </a:pPr>
            <a:r>
              <a:t>DINING PHILOSOPHERS  |  OPERATING SYSTEMS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566160" cy="50292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123B70"/>
                </a:solidFill>
                <a:latin typeface="Aptos"/>
              </a:defRPr>
            </a:pPr>
            <a:r>
              <a:t>Start / Initialize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1737360"/>
            <a:ext cx="0" cy="256032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97680" y="1993392"/>
            <a:ext cx="3566160" cy="566928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123B70"/>
                </a:solidFill>
                <a:latin typeface="Aptos"/>
              </a:defRPr>
            </a:pPr>
            <a:r>
              <a:t>Create philosopher threads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560320"/>
            <a:ext cx="0" cy="256032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97680" y="2816352"/>
            <a:ext cx="3566160" cy="566928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123B70"/>
                </a:solidFill>
                <a:latin typeface="Aptos"/>
              </a:defRPr>
            </a:pPr>
            <a:r>
              <a:t>Request forks in global order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383280"/>
            <a:ext cx="0" cy="256032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97680" y="3639312"/>
            <a:ext cx="3566160" cy="566928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123B70"/>
                </a:solidFill>
                <a:latin typeface="Aptos"/>
              </a:defRPr>
            </a:pPr>
            <a:r>
              <a:t>Acquire both forks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4206240"/>
            <a:ext cx="0" cy="256032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4462272"/>
            <a:ext cx="3566160" cy="50292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123B70"/>
                </a:solidFill>
                <a:latin typeface="Aptos"/>
              </a:defRPr>
            </a:pPr>
            <a:r>
              <a:t>Eat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4965192"/>
            <a:ext cx="0" cy="246888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97680" y="5212080"/>
            <a:ext cx="3566160" cy="50292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300" b="1">
                <a:solidFill>
                  <a:srgbClr val="123B70"/>
                </a:solidFill>
                <a:latin typeface="Aptos"/>
              </a:defRPr>
            </a:pPr>
            <a:r>
              <a:t>Release both forks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154680" y="5468112"/>
            <a:ext cx="1143000" cy="0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51560" y="5138928"/>
            <a:ext cx="2103120" cy="658368"/>
          </a:xfrm>
          <a:prstGeom prst="roundRect">
            <a:avLst/>
          </a:prstGeom>
          <a:solidFill>
            <a:srgbClr val="F5F9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>
              <a:defRPr sz="1200" b="1">
                <a:solidFill>
                  <a:srgbClr val="123B70"/>
                </a:solidFill>
                <a:latin typeface="Aptos"/>
              </a:defRPr>
            </a:pPr>
            <a:r>
              <a:t>Think / repeat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103120" y="2286000"/>
            <a:ext cx="0" cy="2852928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03120" y="2286000"/>
            <a:ext cx="2194560" cy="0"/>
          </a:xfrm>
          <a:prstGeom prst="line">
            <a:avLst/>
          </a:prstGeom>
          <a:ln w="25400">
            <a:solidFill>
              <a:srgbClr val="39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83879" y="2880360"/>
            <a:ext cx="28803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1" i="0">
                <a:solidFill>
                  <a:srgbClr val="3978C5"/>
                </a:solidFill>
                <a:latin typeface="Aptos"/>
              </a:defRPr>
            </a:pPr>
            <a:r>
              <a:t>Why it works</a:t>
            </a:r>
          </a:p>
          <a:p>
            <a:pPr algn="l">
              <a:spcAft>
                <a:spcPts val="700"/>
              </a:spcAft>
              <a:defRPr sz="1400" b="1" i="0">
                <a:solidFill>
                  <a:srgbClr val="3978C5"/>
                </a:solidFill>
                <a:latin typeface="Aptos"/>
              </a:defRPr>
            </a:pPr>
            <a:r>
              <a:t>A global fork order prevents circular waiting.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4297680"/>
            <a:ext cx="28803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Safety rule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Never enter EATING until both forks are held.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963E94C-35E3-4C3F-B49B-C1245EE37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180595"/>
            <a:ext cx="2476500" cy="11754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7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3B70"/>
                </a:solidFill>
                <a:latin typeface="Aptos"/>
              </a:defRPr>
            </a:pPr>
            <a:r>
              <a:t>Testing, Validation &amp; Expected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NO EXPERIMENTAL CLAIMS BEFORE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9672"/>
            <a:ext cx="11045952" cy="10972"/>
          </a:xfrm>
          <a:prstGeom prst="rect">
            <a:avLst/>
          </a:prstGeom>
          <a:solidFill>
            <a:srgbClr val="CCD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800" b="1" i="0">
                <a:solidFill>
                  <a:srgbClr val="53657C"/>
                </a:solidFill>
                <a:latin typeface="Aptos"/>
              </a:defRPr>
            </a:pPr>
            <a:r>
              <a:t>DINING PHILOSOPHERS  |  OPERATING SYSTEMS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166360" cy="196596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453895"/>
            <a:ext cx="483717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Validation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847088"/>
            <a:ext cx="4837176" cy="13441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All five threads start successfully.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No fork is held by two neighbours simultaneously.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Threads continue making progress.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Resources are released after eating.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166360" cy="1965960"/>
          </a:xfrm>
          <a:prstGeom prst="roundRect">
            <a:avLst/>
          </a:prstGeom>
          <a:solidFill>
            <a:srgbClr val="F5F9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453895"/>
            <a:ext cx="483717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Test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847088"/>
            <a:ext cx="4837176" cy="13441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Repeated execution cycles.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Different thread delays.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Long-running stress test.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Inspect terminal logs for states and resource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10515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9B5E10"/>
                </a:solidFill>
                <a:latin typeface="Aptos"/>
              </a:defRPr>
            </a:pPr>
            <a:r>
              <a:t>EXPECTED RESULTS — PENDING IMPLEMENTATION AND TESTING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4297680"/>
            <a:ext cx="3154680" cy="1325880"/>
          </a:xfrm>
          <a:prstGeom prst="roundRect">
            <a:avLst/>
          </a:prstGeom>
          <a:solidFill>
            <a:srgbClr val="E1F5E8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16151" y="4425696"/>
            <a:ext cx="282549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F824C"/>
                </a:solidFill>
                <a:latin typeface="Aptos"/>
              </a:defRPr>
            </a:pPr>
            <a:r>
              <a:t>Deadlock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1" y="4818888"/>
            <a:ext cx="2825496" cy="7040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Expected to be prevented by correct resource ordering.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4297680"/>
            <a:ext cx="3154680" cy="1325880"/>
          </a:xfrm>
          <a:prstGeom prst="roundRect">
            <a:avLst/>
          </a:prstGeom>
          <a:solidFill>
            <a:srgbClr val="FFF3DC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4425696"/>
            <a:ext cx="282549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9B5E10"/>
                </a:solidFill>
                <a:latin typeface="Aptos"/>
              </a:defRPr>
            </a:pPr>
            <a:r>
              <a:t>Starvation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4818888"/>
            <a:ext cx="2825496" cy="7040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253447"/>
                </a:solidFill>
                <a:latin typeface="Aptos"/>
              </a:defRPr>
            </a:pPr>
            <a:r>
              <a:t>Requires separate fairness validation; not guaranteed by ordering alone.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297680"/>
            <a:ext cx="3154680" cy="132588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65592" y="4425696"/>
            <a:ext cx="282549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4818888"/>
            <a:ext cx="2825496" cy="7040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Add actual terminal output and measured observations after testing.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66E53A7-103C-4C4C-962B-921E3F548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650" y="193739"/>
            <a:ext cx="2419045" cy="11481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97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123B70"/>
                </a:solidFill>
                <a:latin typeface="Aptos"/>
              </a:defRPr>
            </a:pPr>
            <a:r>
              <a:t>Applications, Future Work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WHERE SYNCHRONIZATION CONCEPTS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9672"/>
            <a:ext cx="11045952" cy="10972"/>
          </a:xfrm>
          <a:prstGeom prst="rect">
            <a:avLst/>
          </a:prstGeom>
          <a:solidFill>
            <a:srgbClr val="CCD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7955279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800" b="1" i="0">
                <a:solidFill>
                  <a:srgbClr val="53657C"/>
                </a:solidFill>
                <a:latin typeface="Aptos"/>
              </a:defRPr>
            </a:pPr>
            <a:r>
              <a:t>DINING PHILOSOPHERS  |  OPERATING SYSTEMS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  <a:defRPr sz="900" b="1" i="0">
                <a:solidFill>
                  <a:srgbClr val="3978C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98448"/>
            <a:ext cx="3520440" cy="196596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426464"/>
            <a:ext cx="319125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19655"/>
            <a:ext cx="3191256" cy="13441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Operating systems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Database locks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Multithreaded servers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Shared-memory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98448"/>
            <a:ext cx="3520440" cy="1965960"/>
          </a:xfrm>
          <a:prstGeom prst="roundRect">
            <a:avLst/>
          </a:prstGeom>
          <a:solidFill>
            <a:srgbClr val="F5F9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7992" y="1426464"/>
            <a:ext cx="319125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819655"/>
            <a:ext cx="3191256" cy="13441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Visual state dashboard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Waiting-time metrics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Strategy comparison</a:t>
            </a:r>
          </a:p>
          <a:p>
            <a:pPr algn="l">
              <a:spcAft>
                <a:spcPts val="70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• Automated stress 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298448"/>
            <a:ext cx="3520440" cy="1965960"/>
          </a:xfrm>
          <a:prstGeom prst="roundRect">
            <a:avLst/>
          </a:prstGeom>
          <a:solidFill>
            <a:srgbClr val="E7F0FF"/>
          </a:solidFill>
          <a:ln>
            <a:solidFill>
              <a:srgbClr val="CC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65592" y="1426464"/>
            <a:ext cx="3191256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1819655"/>
            <a:ext cx="3191256" cy="13441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253447"/>
                </a:solidFill>
                <a:latin typeface="Aptos"/>
              </a:defRPr>
            </a:pPr>
            <a:r>
              <a:t>Synchronization can prevent unsafe resource allocation. Deadlock prevention and starvation control are related but distinct goals.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79476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123B70"/>
                </a:solidFill>
                <a:latin typeface="Aptos"/>
              </a:defRPr>
            </a:pPr>
            <a:r>
              <a:t>The project demonstrates concurrency, mutual exclusion, resource allocation and liveness using C, pthreads, mutexes and semaphores.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8348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2800" b="1" i="0">
                <a:solidFill>
                  <a:srgbClr val="3978C5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96128"/>
            <a:ext cx="10241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  <a:defRPr sz="1500" b="0" i="0">
                <a:solidFill>
                  <a:srgbClr val="53657C"/>
                </a:solidFill>
                <a:latin typeface="Aptos"/>
              </a:defRPr>
            </a:pPr>
            <a:r>
              <a:t>Questions &amp; Answers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C22E33F-D8D3-4792-A2D8-2B70DB961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356" y="149733"/>
            <a:ext cx="2285392" cy="10847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1091</Words>
  <Application>Microsoft Office PowerPoint</Application>
  <PresentationFormat>Widescreen</PresentationFormat>
  <Paragraphs>217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Dining Philosophers Deadlock Prevention System</dc:title>
  <dc:subject>Operating Systems College Hackathon Project</dc:subject>
  <dc:creator>Student Team</dc:creator>
  <cp:keywords>Dining Philosophers, Deadlock, Starvation, Synchronization, C, pthreads, Ubuntu</cp:keywords>
  <dc:description>generated using python-pptx</dc:description>
  <cp:lastModifiedBy>vivek vinnakota</cp:lastModifiedBy>
  <cp:revision>2</cp:revision>
  <dcterms:created xsi:type="dcterms:W3CDTF">2013-01-27T09:14:16Z</dcterms:created>
  <dcterms:modified xsi:type="dcterms:W3CDTF">2026-10-16T17:30:13Z</dcterms:modified>
  <cp:category/>
</cp:coreProperties>
</file>